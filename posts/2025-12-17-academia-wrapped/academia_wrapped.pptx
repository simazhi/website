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9" r:id="rId3"/>
    <p:sldId id="268" r:id="rId4"/>
    <p:sldId id="269" r:id="rId5"/>
    <p:sldId id="270" r:id="rId6"/>
    <p:sldId id="273" r:id="rId7"/>
    <p:sldId id="272" r:id="rId8"/>
    <p:sldId id="274" r:id="rId9"/>
    <p:sldId id="275" r:id="rId10"/>
    <p:sldId id="276" r:id="rId11"/>
    <p:sldId id="277" r:id="rId12"/>
    <p:sldId id="278" r:id="rId13"/>
  </p:sldIdLst>
  <p:sldSz cx="82296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B900"/>
    <a:srgbClr val="1FD85F"/>
    <a:srgbClr val="1A2A3A"/>
    <a:srgbClr val="F94BA2"/>
    <a:srgbClr val="1DB6A1"/>
    <a:srgbClr val="190E2D"/>
    <a:srgbClr val="3A1D6D"/>
    <a:srgbClr val="4FAAFF"/>
    <a:srgbClr val="0B0913"/>
    <a:srgbClr val="A65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42"/>
    <p:restoredTop sz="94694"/>
  </p:normalViewPr>
  <p:slideViewPr>
    <p:cSldViewPr snapToGrid="0" snapToObjects="1">
      <p:cViewPr varScale="1">
        <p:scale>
          <a:sx n="54" d="100"/>
          <a:sy n="54" d="100"/>
        </p:scale>
        <p:origin x="3328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1444" y="738536"/>
            <a:ext cx="7426711" cy="1982516"/>
          </a:xfrm>
        </p:spPr>
        <p:txBody>
          <a:bodyPr/>
          <a:lstStyle>
            <a:lvl1pPr algn="l">
              <a:defRPr baseline="0">
                <a:solidFill>
                  <a:srgbClr val="F5F5F5"/>
                </a:solidFill>
                <a:latin typeface="Montserrat Light" panose="000004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048" y="3389970"/>
            <a:ext cx="7382107" cy="6302665"/>
          </a:xfrm>
        </p:spPr>
        <p:txBody>
          <a:bodyPr/>
          <a:lstStyle>
            <a:lvl1pPr>
              <a:defRPr sz="5400" baseline="0">
                <a:latin typeface="Montserrat" pitchFamily="2" charset="77"/>
              </a:defRPr>
            </a:lvl1pPr>
            <a:lvl2pPr>
              <a:defRPr baseline="0">
                <a:latin typeface="Montserrat" pitchFamily="2" charset="77"/>
              </a:defRPr>
            </a:lvl2pPr>
            <a:lvl3pPr>
              <a:defRPr baseline="0">
                <a:latin typeface="Montserrat" pitchFamily="2" charset="77"/>
              </a:defRPr>
            </a:lvl3pPr>
            <a:lvl4pPr>
              <a:defRPr baseline="0">
                <a:latin typeface="Montserrat" pitchFamily="2" charset="77"/>
              </a:defRPr>
            </a:lvl4pPr>
            <a:lvl5pPr>
              <a:defRPr baseline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B5E058-1440-6E06-D4A3-45FB70BBD6A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01444" y="8251901"/>
            <a:ext cx="7426711" cy="5923369"/>
          </a:xfrm>
        </p:spPr>
        <p:txBody>
          <a:bodyPr/>
          <a:lstStyle>
            <a:lvl1pPr>
              <a:defRPr sz="3200" b="0" baseline="0">
                <a:latin typeface="Montserrat" pitchFamily="2" charset="77"/>
              </a:defRPr>
            </a:lvl1pPr>
            <a:lvl2pPr>
              <a:defRPr baseline="0">
                <a:latin typeface="Montserrat" pitchFamily="2" charset="77"/>
              </a:defRPr>
            </a:lvl2pPr>
            <a:lvl3pPr>
              <a:defRPr baseline="0">
                <a:latin typeface="Montserrat" pitchFamily="2" charset="77"/>
              </a:defRPr>
            </a:lvl3pPr>
            <a:lvl4pPr>
              <a:defRPr baseline="0">
                <a:latin typeface="Montserrat" pitchFamily="2" charset="77"/>
              </a:defRPr>
            </a:lvl4pPr>
            <a:lvl5pPr>
              <a:defRPr baseline="0"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26CC807-CEAB-BE25-B8D9-7233E0C8C7FC}"/>
              </a:ext>
            </a:extLst>
          </p:cNvPr>
          <p:cNvSpPr txBox="1"/>
          <p:nvPr userDrawn="1"/>
        </p:nvSpPr>
        <p:spPr>
          <a:xfrm>
            <a:off x="0" y="14261068"/>
            <a:ext cx="3371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100" baseline="0" dirty="0">
                <a:solidFill>
                  <a:schemeClr val="bg1"/>
                </a:solidFill>
                <a:latin typeface="Montserrat" pitchFamily="2" charset="77"/>
              </a:rPr>
              <a:t>Thomas Van Hoey · Academia Wrapped 2025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024" y="256324"/>
            <a:ext cx="7783552" cy="288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376" y="3867401"/>
            <a:ext cx="6824546" cy="6971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 baseline="0">
          <a:solidFill>
            <a:srgbClr val="F5F5F5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b="1" kern="1200" baseline="0">
          <a:solidFill>
            <a:srgbClr val="F5F5F5"/>
          </a:solidFill>
          <a:latin typeface="Montserrat" pitchFamily="2" charset="7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1" kern="1200" baseline="0">
          <a:solidFill>
            <a:srgbClr val="F5F5F5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1" kern="1200" baseline="0">
          <a:solidFill>
            <a:srgbClr val="F5F5F5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1" kern="1200" baseline="0">
          <a:solidFill>
            <a:srgbClr val="F5F5F5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1" kern="1200" baseline="0">
          <a:solidFill>
            <a:srgbClr val="F5F5F5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190E2D"/>
            </a:gs>
            <a:gs pos="99000">
              <a:srgbClr val="1DB6A1"/>
            </a:gs>
            <a:gs pos="71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3F70F-DC54-B78E-2F7D-3A7BBB9C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Academia Wrapped 2025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B0C2886-EE14-1A32-A42A-13E99A3D4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E6B900"/>
                </a:solidFill>
              </a:rPr>
              <a:t>It’s here. Find out what 2025 had in store for me.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7F56F9D-8EBC-00A4-E0D2-0CC04D5858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0582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190E2D"/>
            </a:gs>
            <a:gs pos="99000">
              <a:srgbClr val="1DB6A1"/>
            </a:gs>
            <a:gs pos="71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593D2-1B7F-D805-9207-B677C26E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E2939-F0D1-A9DF-682B-93ADEE23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Academia Wrapped 2025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528B44-FE92-9369-47E2-212319A43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A65EEB"/>
                </a:solidFill>
              </a:rPr>
              <a:t>You survived. The data confirms it. </a:t>
            </a:r>
          </a:p>
          <a:p>
            <a:r>
              <a:rPr lang="nl-BE" dirty="0">
                <a:solidFill>
                  <a:srgbClr val="A65EEB"/>
                </a:solidFill>
              </a:rPr>
              <a:t>So does the pile of unread papers in your Downloads folder.</a:t>
            </a:r>
          </a:p>
          <a:p>
            <a:endParaRPr lang="nl-BE" dirty="0">
              <a:solidFill>
                <a:srgbClr val="A65EEB"/>
              </a:solidFill>
            </a:endParaRP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D59CE7B-2869-AFC4-021A-2B857158127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5892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1DB6A1"/>
            </a:gs>
            <a:gs pos="99000">
              <a:srgbClr val="1FD85F"/>
            </a:gs>
            <a:gs pos="28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F25226-8A44-A265-DF6E-BAD4130A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Your Academic Identity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3DC4D24-D00A-1D13-7DD9-23B9F384D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A65EEB"/>
                </a:solidFill>
              </a:rPr>
              <a:t>Defiant Data Druid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B5ED69C-7702-5562-D568-F52119A2E1F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1444" y="5245769"/>
            <a:ext cx="7426711" cy="8929502"/>
          </a:xfrm>
        </p:spPr>
        <p:txBody>
          <a:bodyPr/>
          <a:lstStyle/>
          <a:p>
            <a:r>
              <a:rPr lang="nl-BE" dirty="0"/>
              <a:t>You gave advice to </a:t>
            </a:r>
            <a:r>
              <a:rPr lang="nl-BE" b="1" dirty="0"/>
              <a:t>34 people </a:t>
            </a:r>
            <a:r>
              <a:rPr lang="nl-BE" dirty="0"/>
              <a:t>this year spread over </a:t>
            </a:r>
            <a:r>
              <a:rPr lang="nl-BE" b="1" dirty="0"/>
              <a:t>4,345  minutes</a:t>
            </a:r>
            <a:r>
              <a:rPr lang="nl-BE" dirty="0"/>
              <a:t>. </a:t>
            </a:r>
          </a:p>
          <a:p>
            <a:endParaRPr lang="nl-BE" dirty="0"/>
          </a:p>
          <a:p>
            <a:r>
              <a:rPr lang="nl-BE" b="1" dirty="0"/>
              <a:t>22 times </a:t>
            </a:r>
            <a:r>
              <a:rPr lang="nl-BE" dirty="0"/>
              <a:t>it was unsollicited, but helpful. </a:t>
            </a:r>
          </a:p>
          <a:p>
            <a:endParaRPr lang="nl-BE" dirty="0"/>
          </a:p>
          <a:p>
            <a:r>
              <a:rPr lang="nl-BE" dirty="0"/>
              <a:t>Most of it came wrapped in a joke, placing you in the </a:t>
            </a:r>
            <a:r>
              <a:rPr lang="nl-BE" b="1" dirty="0"/>
              <a:t>top 0,4% of dad joke users</a:t>
            </a:r>
            <a:r>
              <a:rPr lang="nl-B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817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1FD85F"/>
            </a:gs>
            <a:gs pos="99000">
              <a:srgbClr val="1DB6A1"/>
            </a:gs>
            <a:gs pos="80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155A8-F48D-9E24-AD38-C8E96925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You Were Busy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C5241B-9DCA-BF0F-FA16-CBF681011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1FD85F"/>
                </a:solidFill>
              </a:rPr>
              <a:t>5 papers published</a:t>
            </a:r>
          </a:p>
          <a:p>
            <a:r>
              <a:rPr lang="nl-BE" dirty="0">
                <a:solidFill>
                  <a:srgbClr val="1FD85F"/>
                </a:solidFill>
              </a:rPr>
              <a:t>4 papers in print</a:t>
            </a:r>
          </a:p>
          <a:p>
            <a:r>
              <a:rPr lang="nl-BE" dirty="0">
                <a:solidFill>
                  <a:srgbClr val="1FD85F"/>
                </a:solidFill>
              </a:rPr>
              <a:t>5 talks delivered</a:t>
            </a:r>
          </a:p>
          <a:p>
            <a:r>
              <a:rPr lang="nl-BE" dirty="0">
                <a:solidFill>
                  <a:srgbClr val="1FD85F"/>
                </a:solidFill>
              </a:rPr>
              <a:t>1 projects obtained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03E4053-B6D0-7B40-17CE-6439D69A8A9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nl-BE" dirty="0"/>
              <a:t>April was peak velocity:</a:t>
            </a:r>
            <a:br>
              <a:rPr lang="nl-BE" dirty="0"/>
            </a:br>
            <a:r>
              <a:rPr lang="nl-BE" b="1" dirty="0"/>
              <a:t>three papers appeared online in the same week</a:t>
            </a:r>
            <a:r>
              <a:rPr lang="nl-BE" dirty="0"/>
              <a:t>, which you celebrated accordingly.</a:t>
            </a:r>
          </a:p>
          <a:p>
            <a:endParaRPr lang="nl-BE" dirty="0"/>
          </a:p>
          <a:p>
            <a:r>
              <a:rPr lang="nl-BE" dirty="0"/>
              <a:t>The year ended with a surprise:</a:t>
            </a:r>
          </a:p>
          <a:p>
            <a:r>
              <a:rPr lang="nl-BE" dirty="0"/>
              <a:t>the FWO granted you and </a:t>
            </a:r>
            <a:r>
              <a:rPr lang="nl-BE" b="1" dirty="0"/>
              <a:t>Benedikt Szmrecsanyi </a:t>
            </a:r>
            <a:r>
              <a:rPr lang="nl-BE" dirty="0"/>
              <a:t>the </a:t>
            </a:r>
            <a:br>
              <a:rPr lang="nl-BE" dirty="0"/>
            </a:br>
            <a:r>
              <a:rPr lang="nl-BE" b="1" dirty="0"/>
              <a:t>senior research project</a:t>
            </a:r>
            <a:r>
              <a:rPr lang="nl-BE" dirty="0"/>
              <a:t> </a:t>
            </a:r>
            <a:br>
              <a:rPr lang="nl-BE" dirty="0"/>
            </a:br>
            <a:r>
              <a:rPr lang="nl-BE" dirty="0"/>
              <a:t>“Bug-or-Feature: Variation, Optionality, and Dysfluencies.”</a:t>
            </a:r>
          </a:p>
        </p:txBody>
      </p:sp>
    </p:spTree>
    <p:extLst>
      <p:ext uri="{BB962C8B-B14F-4D97-AF65-F5344CB8AC3E}">
        <p14:creationId xmlns:p14="http://schemas.microsoft.com/office/powerpoint/2010/main" val="1700227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99000">
              <a:srgbClr val="1A2A3A"/>
            </a:gs>
            <a:gs pos="4000">
              <a:srgbClr val="1DB6A1"/>
            </a:gs>
            <a:gs pos="52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E5CEFF-A0A1-33D9-15A3-190876B0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The library was open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B437122-B071-AE5A-4D7F-1B1EF9140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4FAAFF"/>
                </a:solidFill>
              </a:rPr>
              <a:t>You reviewed 19 manuscripts. </a:t>
            </a:r>
          </a:p>
          <a:p>
            <a:r>
              <a:rPr lang="nl-BE" dirty="0">
                <a:solidFill>
                  <a:srgbClr val="4FAAFF"/>
                </a:solidFill>
              </a:rPr>
              <a:t>You rejected 4. </a:t>
            </a:r>
          </a:p>
          <a:p>
            <a:r>
              <a:rPr lang="nl-BE" i="1" dirty="0">
                <a:solidFill>
                  <a:srgbClr val="4FAAFF"/>
                </a:solidFill>
              </a:rPr>
              <a:t>Talk about slay!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089E7DF-93DD-0585-00B9-2481CF97D04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nl-BE" dirty="0"/>
              <a:t>Your judgment was </a:t>
            </a:r>
            <a:r>
              <a:rPr lang="nl-BE" b="1" dirty="0"/>
              <a:t>honest</a:t>
            </a:r>
            <a:r>
              <a:rPr lang="nl-BE" dirty="0"/>
              <a:t> and </a:t>
            </a:r>
            <a:r>
              <a:rPr lang="nl-BE" b="1" dirty="0"/>
              <a:t>timely</a:t>
            </a:r>
            <a:r>
              <a:rPr lang="nl-BE" dirty="0"/>
              <a:t>. </a:t>
            </a:r>
          </a:p>
          <a:p>
            <a:endParaRPr lang="nl-BE" dirty="0"/>
          </a:p>
          <a:p>
            <a:r>
              <a:rPr lang="nl-BE" b="1" dirty="0"/>
              <a:t>None</a:t>
            </a:r>
            <a:r>
              <a:rPr lang="nl-BE" dirty="0"/>
              <a:t> of your reviews was overdue. </a:t>
            </a:r>
          </a:p>
          <a:p>
            <a:endParaRPr lang="nl-BE" dirty="0"/>
          </a:p>
          <a:p>
            <a:r>
              <a:rPr lang="nl-BE" dirty="0"/>
              <a:t>You continue to </a:t>
            </a:r>
            <a:r>
              <a:rPr lang="nl-BE" b="1" dirty="0"/>
              <a:t>uphold standards</a:t>
            </a:r>
            <a:r>
              <a:rPr lang="nl-BE" dirty="0"/>
              <a:t>, even in this age of AI.</a:t>
            </a:r>
          </a:p>
        </p:txBody>
      </p:sp>
    </p:spTree>
    <p:extLst>
      <p:ext uri="{BB962C8B-B14F-4D97-AF65-F5344CB8AC3E}">
        <p14:creationId xmlns:p14="http://schemas.microsoft.com/office/powerpoint/2010/main" val="176993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99000">
              <a:srgbClr val="F94BA2"/>
            </a:gs>
            <a:gs pos="4000">
              <a:srgbClr val="1A2A3A"/>
            </a:gs>
            <a:gs pos="52000">
              <a:srgbClr val="190E2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9445D-6802-C094-A9E2-CE17CDA8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You Wrote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E5104A-635B-0A89-D09A-774A3BB93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48" y="3389969"/>
            <a:ext cx="7382107" cy="7919715"/>
          </a:xfrm>
        </p:spPr>
        <p:txBody>
          <a:bodyPr>
            <a:normAutofit lnSpcReduction="10000"/>
          </a:bodyPr>
          <a:lstStyle/>
          <a:p>
            <a:r>
              <a:rPr lang="nl-BE" sz="5000" dirty="0">
                <a:solidFill>
                  <a:srgbClr val="A65EEB"/>
                </a:solidFill>
              </a:rPr>
              <a:t>Flowery in the first draft, never meant to be seen by anyone. </a:t>
            </a:r>
          </a:p>
          <a:p>
            <a:endParaRPr lang="nl-BE" sz="5000" dirty="0">
              <a:solidFill>
                <a:srgbClr val="A65EEB"/>
              </a:solidFill>
            </a:endParaRPr>
          </a:p>
          <a:p>
            <a:r>
              <a:rPr lang="nl-BE" sz="5000" dirty="0">
                <a:solidFill>
                  <a:srgbClr val="A65EEB"/>
                </a:solidFill>
              </a:rPr>
              <a:t>Each time, you pruned it back and made it fit for consumption.</a:t>
            </a:r>
          </a:p>
          <a:p>
            <a:endParaRPr lang="nl-BE" sz="5000" i="1" dirty="0">
              <a:solidFill>
                <a:srgbClr val="A65EEB"/>
              </a:solidFill>
            </a:endParaRPr>
          </a:p>
          <a:p>
            <a:r>
              <a:rPr lang="nl-BE" sz="5000" i="1" dirty="0">
                <a:solidFill>
                  <a:srgbClr val="A65EEB"/>
                </a:solidFill>
              </a:rPr>
              <a:t>Pfew! 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C5C583D-E8FA-7C68-972D-781676A445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1444" y="11574379"/>
            <a:ext cx="7426711" cy="2600890"/>
          </a:xfrm>
        </p:spPr>
        <p:txBody>
          <a:bodyPr/>
          <a:lstStyle/>
          <a:p>
            <a:r>
              <a:rPr lang="nl-BE" b="1" dirty="0"/>
              <a:t>Revising is thinking</a:t>
            </a:r>
            <a:r>
              <a:rPr lang="nl-BE" dirty="0"/>
              <a:t>,</a:t>
            </a:r>
            <a:br>
              <a:rPr lang="nl-BE" dirty="0"/>
            </a:br>
            <a:r>
              <a:rPr lang="nl-BE" dirty="0"/>
              <a:t>and a perfectly acceptable mode of living </a:t>
            </a:r>
            <a:r>
              <a:rPr lang="nl-BE" b="1" dirty="0"/>
              <a:t>la vida linguística</a:t>
            </a:r>
            <a:r>
              <a:rPr lang="nl-B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59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99000">
              <a:srgbClr val="E6B900"/>
            </a:gs>
            <a:gs pos="4000">
              <a:srgbClr val="F94BA2"/>
            </a:gs>
            <a:gs pos="34000">
              <a:srgbClr val="190E2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A86F5B-8568-BBEF-BD58-AC1E0C5C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Peak Productivity Hour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5E4F640-DBAC-529E-6BAF-1B3DFF46E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F94BA2"/>
                </a:solidFill>
              </a:rPr>
              <a:t>Between the soup and the potatoes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060F689-76CD-0706-9D85-D778CBB7814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nl-BE" dirty="0"/>
              <a:t>When the world stops mailing and the brain starts activating. </a:t>
            </a:r>
          </a:p>
          <a:p>
            <a:endParaRPr lang="nl-BE" dirty="0"/>
          </a:p>
          <a:p>
            <a:r>
              <a:rPr lang="nl-BE" dirty="0"/>
              <a:t>Seriously though, the boundary between your work and life became </a:t>
            </a:r>
            <a:r>
              <a:rPr lang="nl-BE" b="1" dirty="0"/>
              <a:t>320%</a:t>
            </a:r>
            <a:r>
              <a:rPr lang="nl-BE" dirty="0"/>
              <a:t> stronger! That’s amazing bestie.</a:t>
            </a:r>
          </a:p>
          <a:p>
            <a:endParaRPr lang="nl-BE" dirty="0"/>
          </a:p>
          <a:p>
            <a:r>
              <a:rPr lang="nl-BE" b="1" dirty="0"/>
              <a:t>You brought balance to the Force.</a:t>
            </a:r>
          </a:p>
        </p:txBody>
      </p:sp>
    </p:spTree>
    <p:extLst>
      <p:ext uri="{BB962C8B-B14F-4D97-AF65-F5344CB8AC3E}">
        <p14:creationId xmlns:p14="http://schemas.microsoft.com/office/powerpoint/2010/main" val="319510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E6B900"/>
            </a:gs>
            <a:gs pos="99000">
              <a:srgbClr val="1DB6A1"/>
            </a:gs>
            <a:gs pos="52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79F40-5D6A-3913-2FDE-38DE99D4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You Traveled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F61DDD7-CD27-F1E2-73E1-28A5ED0AE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5000" dirty="0">
                <a:solidFill>
                  <a:srgbClr val="FFD166"/>
                </a:solidFill>
              </a:rPr>
              <a:t>To familiar places like Taipei and Hong Kong </a:t>
            </a:r>
            <a:br>
              <a:rPr lang="nl-BE" sz="5000" dirty="0">
                <a:solidFill>
                  <a:srgbClr val="FFD166"/>
                </a:solidFill>
              </a:rPr>
            </a:br>
            <a:r>
              <a:rPr lang="nl-BE" sz="5000" dirty="0">
                <a:solidFill>
                  <a:srgbClr val="FFD166"/>
                </a:solidFill>
              </a:rPr>
              <a:t>but also exotic ones like Košice, Bordeaux and Santiago De Compostela.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D3E5C43-4A8B-C614-4C02-6868FB63BEB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1444" y="9360569"/>
            <a:ext cx="7426711" cy="4814702"/>
          </a:xfrm>
        </p:spPr>
        <p:txBody>
          <a:bodyPr/>
          <a:lstStyle/>
          <a:p>
            <a:r>
              <a:rPr lang="nl-BE" b="1" dirty="0"/>
              <a:t>No, you didn’t walk there.</a:t>
            </a:r>
            <a:r>
              <a:rPr lang="nl-BE" dirty="0"/>
              <a:t> </a:t>
            </a:r>
          </a:p>
          <a:p>
            <a:r>
              <a:rPr lang="nl-BE" dirty="0"/>
              <a:t>You flew through Frankfurt </a:t>
            </a:r>
            <a:br>
              <a:rPr lang="nl-BE" dirty="0"/>
            </a:br>
            <a:r>
              <a:rPr lang="nl-BE" dirty="0"/>
              <a:t>and then took a taxi from the airport. </a:t>
            </a:r>
          </a:p>
          <a:p>
            <a:endParaRPr lang="nl-BE" dirty="0"/>
          </a:p>
          <a:p>
            <a:r>
              <a:rPr lang="nl-BE" dirty="0"/>
              <a:t>Still, the academic pilgrimage moved you. </a:t>
            </a:r>
            <a:r>
              <a:rPr lang="nl-BE" b="1" dirty="0"/>
              <a:t>Just not across land.</a:t>
            </a:r>
          </a:p>
        </p:txBody>
      </p:sp>
    </p:spTree>
    <p:extLst>
      <p:ext uri="{BB962C8B-B14F-4D97-AF65-F5344CB8AC3E}">
        <p14:creationId xmlns:p14="http://schemas.microsoft.com/office/powerpoint/2010/main" val="3891938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1A2A3A"/>
            </a:gs>
            <a:gs pos="99000">
              <a:srgbClr val="F94BA2"/>
            </a:gs>
            <a:gs pos="52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2CEA2-66B0-5F86-75CA-B8771EAD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You Taught Them A Lesson Or Two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6CEA799-129D-1AD4-4AAA-115B43935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5000" dirty="0">
                <a:solidFill>
                  <a:srgbClr val="4FAAFF"/>
                </a:solidFill>
              </a:rPr>
              <a:t>Hours taught: 52</a:t>
            </a:r>
          </a:p>
          <a:p>
            <a:r>
              <a:rPr lang="nl-BE" sz="5000" dirty="0">
                <a:solidFill>
                  <a:srgbClr val="4FAAFF"/>
                </a:solidFill>
              </a:rPr>
              <a:t>Exams graded: 200+</a:t>
            </a:r>
          </a:p>
          <a:p>
            <a:r>
              <a:rPr lang="nl-BE" sz="5000" dirty="0">
                <a:solidFill>
                  <a:srgbClr val="4FAAFF"/>
                </a:solidFill>
              </a:rPr>
              <a:t>Students with epiphanies: 67%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7203E6C-9B66-DB57-03D0-34E8C45B27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1444" y="7628021"/>
            <a:ext cx="7426711" cy="6547249"/>
          </a:xfrm>
        </p:spPr>
        <p:txBody>
          <a:bodyPr>
            <a:normAutofit/>
          </a:bodyPr>
          <a:lstStyle/>
          <a:p>
            <a:r>
              <a:rPr lang="nl-BE" dirty="0"/>
              <a:t>Your arm is still sore,</a:t>
            </a:r>
            <a:br>
              <a:rPr lang="nl-BE" dirty="0"/>
            </a:br>
            <a:r>
              <a:rPr lang="nl-BE" dirty="0"/>
              <a:t>but you refuse to take online exams. </a:t>
            </a:r>
          </a:p>
          <a:p>
            <a:endParaRPr lang="nl-BE" dirty="0"/>
          </a:p>
          <a:p>
            <a:r>
              <a:rPr lang="nl-BE" dirty="0"/>
              <a:t>After every class, you softly whisper: </a:t>
            </a:r>
            <a:r>
              <a:rPr lang="nl-BE" b="1" dirty="0"/>
              <a:t>“May the odds be ever in your favor”. </a:t>
            </a:r>
          </a:p>
          <a:p>
            <a:endParaRPr lang="nl-BE" dirty="0"/>
          </a:p>
          <a:p>
            <a:r>
              <a:rPr lang="nl-BE" dirty="0"/>
              <a:t>You don’t dumb down your content. </a:t>
            </a:r>
            <a:r>
              <a:rPr lang="nl-BE" b="1" dirty="0"/>
              <a:t>It frustrates some students.</a:t>
            </a:r>
          </a:p>
        </p:txBody>
      </p:sp>
    </p:spTree>
    <p:extLst>
      <p:ext uri="{BB962C8B-B14F-4D97-AF65-F5344CB8AC3E}">
        <p14:creationId xmlns:p14="http://schemas.microsoft.com/office/powerpoint/2010/main" val="427228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F94BA2"/>
            </a:gs>
            <a:gs pos="99000">
              <a:srgbClr val="E6B900"/>
            </a:gs>
            <a:gs pos="52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ECAB3-C6DD-4AC8-E26C-A37D2814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Academic Emotional Spectrum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3D2FC8-A150-B043-A5D0-DF262B47C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A65EEB"/>
                </a:solidFill>
              </a:rPr>
              <a:t>Deep Work 42%</a:t>
            </a:r>
          </a:p>
          <a:p>
            <a:r>
              <a:rPr lang="nl-BE" dirty="0">
                <a:solidFill>
                  <a:srgbClr val="A65EEB"/>
                </a:solidFill>
              </a:rPr>
              <a:t>Surviving 24%</a:t>
            </a:r>
          </a:p>
          <a:p>
            <a:r>
              <a:rPr lang="nl-BE" dirty="0">
                <a:solidFill>
                  <a:srgbClr val="A65EEB"/>
                </a:solidFill>
              </a:rPr>
              <a:t>Thriving 15%</a:t>
            </a:r>
          </a:p>
          <a:p>
            <a:r>
              <a:rPr lang="nl-BE" dirty="0">
                <a:solidFill>
                  <a:srgbClr val="A65EEB"/>
                </a:solidFill>
              </a:rPr>
              <a:t>Rampaging 11%</a:t>
            </a:r>
          </a:p>
          <a:p>
            <a:r>
              <a:rPr lang="nl-BE" dirty="0">
                <a:solidFill>
                  <a:srgbClr val="A65EEB"/>
                </a:solidFill>
              </a:rPr>
              <a:t>Unstoppable 8%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D296142-9031-4E7F-039E-AD31BC53C3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1444" y="8903368"/>
            <a:ext cx="7426711" cy="5271902"/>
          </a:xfrm>
        </p:spPr>
        <p:txBody>
          <a:bodyPr/>
          <a:lstStyle/>
          <a:p>
            <a:r>
              <a:rPr lang="nl-BE" b="1" dirty="0"/>
              <a:t>You’re not falling apart. </a:t>
            </a:r>
          </a:p>
          <a:p>
            <a:endParaRPr lang="nl-BE" dirty="0"/>
          </a:p>
          <a:p>
            <a:r>
              <a:rPr lang="nl-BE" dirty="0"/>
              <a:t>In fact,  one might even say you’re actually putting the pieces together. </a:t>
            </a:r>
          </a:p>
          <a:p>
            <a:endParaRPr lang="nl-BE" dirty="0"/>
          </a:p>
          <a:p>
            <a:r>
              <a:rPr lang="nl-BE" b="1" dirty="0"/>
              <a:t>In sum, you’re managing.</a:t>
            </a:r>
          </a:p>
          <a:p>
            <a:r>
              <a:rPr lang="nl-BE" b="1" dirty="0"/>
              <a:t>cf. your Data Management Plan.</a:t>
            </a:r>
          </a:p>
        </p:txBody>
      </p:sp>
    </p:spTree>
    <p:extLst>
      <p:ext uri="{BB962C8B-B14F-4D97-AF65-F5344CB8AC3E}">
        <p14:creationId xmlns:p14="http://schemas.microsoft.com/office/powerpoint/2010/main" val="748137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E6B900"/>
            </a:gs>
            <a:gs pos="99000">
              <a:srgbClr val="1DB6A1"/>
            </a:gs>
            <a:gs pos="52000">
              <a:srgbClr val="3A1D6D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AB824-DD83-8152-729E-C4E07D94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What Sustains You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DB8E61D-1903-BC1D-9A5A-BBE98BBCF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5000" dirty="0">
                <a:solidFill>
                  <a:srgbClr val="F94BA2"/>
                </a:solidFill>
              </a:rPr>
              <a:t>Madmum coffee</a:t>
            </a:r>
          </a:p>
          <a:p>
            <a:r>
              <a:rPr lang="nl-BE" sz="5000" dirty="0">
                <a:solidFill>
                  <a:srgbClr val="F94BA2"/>
                </a:solidFill>
              </a:rPr>
              <a:t>The puzzle of ideophones</a:t>
            </a:r>
          </a:p>
          <a:p>
            <a:r>
              <a:rPr lang="nl-BE" sz="5000" dirty="0">
                <a:solidFill>
                  <a:srgbClr val="F94BA2"/>
                </a:solidFill>
              </a:rPr>
              <a:t>Spite (in moderation)</a:t>
            </a:r>
          </a:p>
          <a:p>
            <a:r>
              <a:rPr lang="nl-BE" sz="5000" dirty="0">
                <a:solidFill>
                  <a:srgbClr val="F94BA2"/>
                </a:solidFill>
              </a:rPr>
              <a:t>Lunches with colleagues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CFA41EC-A70B-BA11-9E53-F7A9470282E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1444" y="9321800"/>
            <a:ext cx="7426711" cy="4853470"/>
          </a:xfrm>
        </p:spPr>
        <p:txBody>
          <a:bodyPr/>
          <a:lstStyle/>
          <a:p>
            <a:r>
              <a:rPr lang="nl-BE" dirty="0"/>
              <a:t>With the help of </a:t>
            </a:r>
            <a:r>
              <a:rPr lang="nl-BE" b="1" dirty="0"/>
              <a:t>loud</a:t>
            </a:r>
            <a:r>
              <a:rPr lang="nl-BE" dirty="0"/>
              <a:t> Kpop music, you drafted an entirely new research project.</a:t>
            </a:r>
          </a:p>
          <a:p>
            <a:r>
              <a:rPr lang="nl-BE" dirty="0"/>
              <a:t>You crossed your fingers. </a:t>
            </a:r>
          </a:p>
          <a:p>
            <a:r>
              <a:rPr lang="nl-BE" dirty="0"/>
              <a:t>Your colleagues knocked on wood.</a:t>
            </a:r>
          </a:p>
          <a:p>
            <a:r>
              <a:rPr lang="nl-BE" dirty="0"/>
              <a:t>Your hobbit friend knocked over some armor and now you hear </a:t>
            </a:r>
            <a:r>
              <a:rPr lang="nl-BE" b="1" dirty="0"/>
              <a:t>drums, drums in the deep.</a:t>
            </a:r>
          </a:p>
        </p:txBody>
      </p:sp>
    </p:spTree>
    <p:extLst>
      <p:ext uri="{BB962C8B-B14F-4D97-AF65-F5344CB8AC3E}">
        <p14:creationId xmlns:p14="http://schemas.microsoft.com/office/powerpoint/2010/main" val="1057018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3F9"/>
            </a:gs>
            <a:gs pos="0">
              <a:srgbClr val="1DB6A1"/>
            </a:gs>
            <a:gs pos="99000">
              <a:srgbClr val="1FD85F"/>
            </a:gs>
            <a:gs pos="70000">
              <a:srgbClr val="1A2A3A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B1EAF-16EC-AA21-4EF5-2A56FA920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D305E-1869-E171-0C8B-B5AB3F8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You’re Still Here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1212278-E2D0-0AFE-866E-FA5477E15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5200" dirty="0">
                <a:solidFill>
                  <a:srgbClr val="1FD85F"/>
                </a:solidFill>
              </a:rPr>
              <a:t>You’ve entered your acceptance era. </a:t>
            </a:r>
          </a:p>
          <a:p>
            <a:endParaRPr lang="nl-BE" dirty="0">
              <a:solidFill>
                <a:srgbClr val="1FD85F"/>
              </a:solidFill>
            </a:endParaRPr>
          </a:p>
          <a:p>
            <a:r>
              <a:rPr lang="nl-BE" dirty="0">
                <a:solidFill>
                  <a:srgbClr val="1FD85F"/>
                </a:solidFill>
              </a:rPr>
              <a:t>Let’s. Fucking. Go.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D684BE0-9A76-4404-509F-56C2D6443B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1444" y="8102600"/>
            <a:ext cx="7426711" cy="6072670"/>
          </a:xfrm>
        </p:spPr>
        <p:txBody>
          <a:bodyPr/>
          <a:lstStyle/>
          <a:p>
            <a:r>
              <a:rPr lang="nl-BE" b="1" dirty="0"/>
              <a:t>Onward</a:t>
            </a:r>
            <a:r>
              <a:rPr lang="nl-BE" dirty="0"/>
              <a:t> and </a:t>
            </a:r>
            <a:r>
              <a:rPr lang="nl-BE" b="1" dirty="0"/>
              <a:t>upward</a:t>
            </a:r>
            <a:r>
              <a:rPr lang="nl-B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662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549</Words>
  <Application>Microsoft Macintosh PowerPoint</Application>
  <PresentationFormat>Custom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</vt:lpstr>
      <vt:lpstr>Montserrat Light</vt:lpstr>
      <vt:lpstr>Office Theme</vt:lpstr>
      <vt:lpstr>Academia Wrapped 2025</vt:lpstr>
      <vt:lpstr>Academia Wrapped 2025</vt:lpstr>
      <vt:lpstr>Your Academic Identity</vt:lpstr>
      <vt:lpstr>You Were Busy</vt:lpstr>
      <vt:lpstr>The library was open</vt:lpstr>
      <vt:lpstr>You Wrote</vt:lpstr>
      <vt:lpstr>Peak Productivity Hour</vt:lpstr>
      <vt:lpstr>You Traveled</vt:lpstr>
      <vt:lpstr>You Taught Them A Lesson Or Two</vt:lpstr>
      <vt:lpstr>Academic Emotional Spectrum</vt:lpstr>
      <vt:lpstr>What Sustains You</vt:lpstr>
      <vt:lpstr>You’re Still Here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Thomas Van Hoey</cp:lastModifiedBy>
  <cp:revision>60</cp:revision>
  <dcterms:created xsi:type="dcterms:W3CDTF">2013-01-27T09:14:16Z</dcterms:created>
  <dcterms:modified xsi:type="dcterms:W3CDTF">2025-12-17T09:52:52Z</dcterms:modified>
  <cp:category/>
</cp:coreProperties>
</file>